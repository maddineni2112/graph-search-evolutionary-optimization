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4b278bda984413" /><Relationship Type="http://schemas.openxmlformats.org/officeDocument/2006/relationships/extended-properties" Target="/docProps/app.xml" Id="R8e339c79dd794c4c" /><Relationship Type="http://schemas.openxmlformats.org/officeDocument/2006/relationships/officeDocument" Target="/ppt/presentation.xml" Id="R9ef124527ed844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9848e231c04795"/>
  </p:sldMasterIdLst>
  <p:notesMasterIdLst>
    <p:notesMasterId xmlns:r="http://schemas.openxmlformats.org/officeDocument/2006/relationships" r:id="Ref1c25c81a704c76"/>
  </p:notesMasterIdLst>
  <p:sldIdLst>
    <p:sldId xmlns:r="http://schemas.openxmlformats.org/officeDocument/2006/relationships" id="256" r:id="R309f7764b4084b5b"/>
    <p:sldId xmlns:r="http://schemas.openxmlformats.org/officeDocument/2006/relationships" id="257" r:id="Ra257eee5f77549d3"/>
    <p:sldId xmlns:r="http://schemas.openxmlformats.org/officeDocument/2006/relationships" id="258" r:id="R514c697c9b344c28"/>
    <p:sldId xmlns:r="http://schemas.openxmlformats.org/officeDocument/2006/relationships" id="259" r:id="R821b612807de40a1"/>
    <p:sldId xmlns:r="http://schemas.openxmlformats.org/officeDocument/2006/relationships" id="260" r:id="R746513709bbb4927"/>
    <p:sldId xmlns:r="http://schemas.openxmlformats.org/officeDocument/2006/relationships" id="261" r:id="R063498ea5f54415d"/>
    <p:sldId xmlns:r="http://schemas.openxmlformats.org/officeDocument/2006/relationships" id="262" r:id="R0fde8335d5d74bac"/>
    <p:sldId xmlns:r="http://schemas.openxmlformats.org/officeDocument/2006/relationships" id="263" r:id="R719f885ebc2240a5"/>
    <p:sldId xmlns:r="http://schemas.openxmlformats.org/officeDocument/2006/relationships" id="264" r:id="R768dcd93950742f1"/>
    <p:sldId xmlns:r="http://schemas.openxmlformats.org/officeDocument/2006/relationships" id="265" r:id="R6f28e5ce589641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749cf3d63745ab" /><Relationship Type="http://schemas.openxmlformats.org/officeDocument/2006/relationships/slideMaster" Target="/ppt/slideMasters/slideMaster1.xml" Id="Rae9848e231c04795" /><Relationship Type="http://schemas.openxmlformats.org/officeDocument/2006/relationships/notesMaster" Target="/ppt/notesMasters/notesMaster1.xml" Id="Ref1c25c81a704c76" /><Relationship Type="http://schemas.openxmlformats.org/officeDocument/2006/relationships/presProps" Target="/ppt/presProps.xml" Id="R742bb3860d5d4bc7" /><Relationship Type="http://schemas.openxmlformats.org/officeDocument/2006/relationships/tableStyles" Target="/ppt/tableStyles.xml" Id="Rb1183a8cc925434a" /><Relationship Type="http://schemas.openxmlformats.org/officeDocument/2006/relationships/slide" Target="/ppt/slides/slide1.xml" Id="R309f7764b4084b5b" /><Relationship Type="http://schemas.openxmlformats.org/officeDocument/2006/relationships/slide" Target="/ppt/slides/slide2.xml" Id="Ra257eee5f77549d3" /><Relationship Type="http://schemas.openxmlformats.org/officeDocument/2006/relationships/slide" Target="/ppt/slides/slide3.xml" Id="R514c697c9b344c28" /><Relationship Type="http://schemas.openxmlformats.org/officeDocument/2006/relationships/slide" Target="/ppt/slides/slide4.xml" Id="R821b612807de40a1" /><Relationship Type="http://schemas.openxmlformats.org/officeDocument/2006/relationships/slide" Target="/ppt/slides/slide5.xml" Id="R746513709bbb4927" /><Relationship Type="http://schemas.openxmlformats.org/officeDocument/2006/relationships/slide" Target="/ppt/slides/slide6.xml" Id="R063498ea5f54415d" /><Relationship Type="http://schemas.openxmlformats.org/officeDocument/2006/relationships/slide" Target="/ppt/slides/slide7.xml" Id="R0fde8335d5d74bac" /><Relationship Type="http://schemas.openxmlformats.org/officeDocument/2006/relationships/slide" Target="/ppt/slides/slide8.xml" Id="R719f885ebc2240a5" /><Relationship Type="http://schemas.openxmlformats.org/officeDocument/2006/relationships/slide" Target="/ppt/slides/slide9.xml" Id="R768dcd93950742f1" /><Relationship Type="http://schemas.openxmlformats.org/officeDocument/2006/relationships/slide" Target="/ppt/slides/slide10.xml" Id="R6f28e5ce589641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5043a536ad4d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f3810077ff49d5" /><Relationship Type="http://schemas.openxmlformats.org/officeDocument/2006/relationships/notesMaster" Target="/ppt/notesMasters/notesMaster1.xml" Id="R217956edbc7f48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a0d64f004d4785" /><Relationship Type="http://schemas.openxmlformats.org/officeDocument/2006/relationships/notesMaster" Target="/ppt/notesMasters/notesMaster1.xml" Id="R1b55489f9b7a46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e34307d1264658" /><Relationship Type="http://schemas.openxmlformats.org/officeDocument/2006/relationships/notesMaster" Target="/ppt/notesMasters/notesMaster1.xml" Id="R140b04d0314e4e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4e9864e87d49e8" /><Relationship Type="http://schemas.openxmlformats.org/officeDocument/2006/relationships/notesMaster" Target="/ppt/notesMasters/notesMaster1.xml" Id="R4aa17911267d46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2fb19fff814ee8" /><Relationship Type="http://schemas.openxmlformats.org/officeDocument/2006/relationships/notesMaster" Target="/ppt/notesMasters/notesMaster1.xml" Id="R5a4e6c28862941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83d1737a0a4cb3" /><Relationship Type="http://schemas.openxmlformats.org/officeDocument/2006/relationships/notesMaster" Target="/ppt/notesMasters/notesMaster1.xml" Id="R332c42408a0746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a28ff05b214384" /><Relationship Type="http://schemas.openxmlformats.org/officeDocument/2006/relationships/notesMaster" Target="/ppt/notesMasters/notesMaster1.xml" Id="R4b61e39304dc44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24e4f63e114512" /><Relationship Type="http://schemas.openxmlformats.org/officeDocument/2006/relationships/notesMaster" Target="/ppt/notesMasters/notesMaster1.xml" Id="R96ffafea596847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3b4a65d5124e50" /><Relationship Type="http://schemas.openxmlformats.org/officeDocument/2006/relationships/notesMaster" Target="/ppt/notesMasters/notesMaster1.xml" Id="R88ec4b781fb845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218c99a03d46a5" /><Relationship Type="http://schemas.openxmlformats.org/officeDocument/2006/relationships/notesMaster" Target="/ppt/notesMasters/notesMaster1.xml" Id="R7d66dce77dff4f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graph-search-evolutionary-optimization repository README and integrated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src/HW01_search.ipynb and src/HW02_optimization.ipynb. The saved MNIST output reports 97.80% test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src/evolutionary_search.py, src/tasks.py, and src/run_project.py.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methodology in evolutionary-model-selection-report.tex and implementation in evolutionary_search.py.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evolutionary_search.py. Both methods minimize a scalar objective and use deterministic result traces.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tasks.py and the original notebooks. The housing data is intentionally described as pedagogical.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run_project.py and results/housing_experiment.json.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results/housing_experiment.json. Holdout RMSE is $8,959.05 on the fixed two-row split.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saved outputs in src/HW02_optimization.ipynb and integrated runner in src/run_project.py. No new MNIST score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report bibliography and repository data statement.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8651498964c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3b553451b342c3" /><Relationship Type="http://schemas.openxmlformats.org/officeDocument/2006/relationships/slideLayout" Target="/ppt/slideLayouts/slideLayout1.xml" Id="Rc6dab0989fc041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dab0989fc041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b9685cde44f0e" /><Relationship Type="http://schemas.openxmlformats.org/officeDocument/2006/relationships/notesSlide" Target="/ppt/notesSlides/notesSlide1.xml" Id="R3f30bc1dcbe64c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ffa07791f4ec1" /><Relationship Type="http://schemas.openxmlformats.org/officeDocument/2006/relationships/notesSlide" Target="/ppt/notesSlides/notesSlide2.xml" Id="Rde141276de294a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2c5164463466a" /><Relationship Type="http://schemas.openxmlformats.org/officeDocument/2006/relationships/notesSlide" Target="/ppt/notesSlides/notesSlide3.xml" Id="R9b8b0cca4f6843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9c6cb30ce436b" /><Relationship Type="http://schemas.openxmlformats.org/officeDocument/2006/relationships/notesSlide" Target="/ppt/notesSlides/notesSlide4.xml" Id="Rb7c421808f5441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e9ba6f4614bc3" /><Relationship Type="http://schemas.openxmlformats.org/officeDocument/2006/relationships/notesSlide" Target="/ppt/notesSlides/notesSlide5.xml" Id="R4c3d18e20ad24b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922e15df44181" /><Relationship Type="http://schemas.openxmlformats.org/officeDocument/2006/relationships/notesSlide" Target="/ppt/notesSlides/notesSlide6.xml" Id="Rae968b462eda4b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54e5bcfd54c9c" /><Relationship Type="http://schemas.openxmlformats.org/officeDocument/2006/relationships/notesSlide" Target="/ppt/notesSlides/notesSlide7.xml" Id="R6de51baf65c04f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9afef0f3f42b2" /><Relationship Type="http://schemas.openxmlformats.org/officeDocument/2006/relationships/chart" Target="/ppt/slides/charts/chart1.xml" Id="R9c5db1b0f9894376" /><Relationship Type="http://schemas.openxmlformats.org/officeDocument/2006/relationships/notesSlide" Target="/ppt/notesSlides/notesSlide8.xml" Id="R93c6e400e04146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d4ddf230a4b4b" /><Relationship Type="http://schemas.openxmlformats.org/officeDocument/2006/relationships/chart" Target="/ppt/slides/charts/chart2.xml" Id="R2b23f51d2f92433e" /><Relationship Type="http://schemas.openxmlformats.org/officeDocument/2006/relationships/notesSlide" Target="/ppt/notesSlides/notesSlide9.xml" Id="R1ad651aaf80948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1272529284969" /><Relationship Type="http://schemas.openxmlformats.org/officeDocument/2006/relationships/notesSlide" Target="/ppt/notesSlides/notesSlide10.xml" Id="Rc08ab7c0449a40b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Holdout RMSE ($)</c:v>
          </c:tx>
          <c:spPr>
            <a:solidFill xmlns:a="http://schemas.openxmlformats.org/drawingml/2006/main">
              <a:srgbClr val="F97316"/>
            </a:solidFill>
          </c:spPr>
          <c:cat>
            <c:strRef>
              <c:f>'Chart Data'!$A$2:$A$3</c:f>
              <c:strCache>
                <c:ptCount val="2"/>
                <c:pt idx="0">
                  <c:v>Best-first</c:v>
                </c:pt>
                <c:pt idx="1">
                  <c:v>Genetic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8959.05</c:v>
                </c:pt>
                <c:pt idx="1">
                  <c:v>8959.05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B13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00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 (%)</c:v>
          </c:tx>
          <c:spPr>
            <a:solidFill xmlns:a="http://schemas.openxmlformats.org/drawingml/2006/main">
              <a:srgbClr val="2E5BFF"/>
            </a:solidFill>
          </c:spPr>
          <c:cat>
            <c:strRef>
              <c:f>'Chart Data'!$A$2:$A$4</c:f>
              <c:strCache>
                <c:ptCount val="3"/>
                <c:pt idx="0">
                  <c:v>Validation epoch 1</c:v>
                </c:pt>
                <c:pt idx="1">
                  <c:v>Validation epoch 5</c:v>
                </c:pt>
                <c:pt idx="2">
                  <c:v>Test after epoch 5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95.36</c:v>
                </c:pt>
                <c:pt idx="1">
                  <c:v>97.6</c:v>
                </c:pt>
                <c:pt idx="2">
                  <c:v>97.8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B13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9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502CD-AB97-47D0-9D01-131913FB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477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1430">
            <a:solidFill>
              <a:srgbClr val="F9731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D4B68-0C0C-4741-A6E5-3DE8F123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A8B8D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8B8D8"/>
                </a:solidFill>
                <a:latin typeface="Arial"/>
                <a:ea typeface="Arial"/>
                <a:cs typeface="Arial"/>
              </a:rPr>
              <a:t>FUNDAMENTALS OF ARTIFICIAL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22062-5E2A-4B94-A2E1-59608C9B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81125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 Search and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Evolutionary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BF7E9-D972-4062-980E-A92C2020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D5DDF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D5DDF0"/>
                </a:solidFill>
                <a:latin typeface="Arial"/>
                <a:ea typeface="Arial"/>
                <a:cs typeface="Arial"/>
              </a:rPr>
              <a:t>Automated model selection across regression and image classification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3E4BC-6B83-4C9B-8994-68D52EC0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A8B8D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8B8D8"/>
                </a:solidFill>
                <a:latin typeface="Arial"/>
                <a:ea typeface="Arial"/>
                <a:cs typeface="Arial"/>
              </a:rPr>
              <a:t>Naga Sampath Maddineni  |  University of North Texas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95F31-CF6A-4BB0-9CDC-9546DF6A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0125"/>
            <a:ext cx="247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64A"/>
          </a:solidFill>
          <a:ln xmlns:a="http://schemas.openxmlformats.org/drawingml/2006/main" w="11430">
            <a:solidFill>
              <a:srgbClr val="31466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9372E-20C8-4581-BBE1-7CC1C0FE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720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D5DDF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5DDF0"/>
                </a:solidFill>
                <a:latin typeface="Arial"/>
                <a:ea typeface="Arial"/>
                <a:cs typeface="Arial"/>
              </a:rPr>
              <a:t>GRAPH 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BF1B8-D578-4682-AFCC-23E7C8E0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10125"/>
            <a:ext cx="3190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64A"/>
          </a:solidFill>
          <a:ln xmlns:a="http://schemas.openxmlformats.org/drawingml/2006/main" w="11430">
            <a:solidFill>
              <a:srgbClr val="3146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81494-EE71-4F40-AD94-A1ABFD64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72050"/>
            <a:ext cx="2886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D5DDF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5DDF0"/>
                </a:solidFill>
                <a:latin typeface="Arial"/>
                <a:ea typeface="Arial"/>
                <a:cs typeface="Arial"/>
              </a:rPr>
              <a:t>EVOLUTIONARY OPTIMIZATION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3E0BD-9E0A-4227-A8D9-240E1571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7F94B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F94BD"/>
                </a:solidFill>
                <a:latin typeface="Arial"/>
                <a:ea typeface="Arial"/>
                <a:cs typeface="Arial"/>
              </a:rPr>
              <a:t>Research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194643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F8B3F3-49D2-4A06-A758-13D7D197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FC026-423A-49AD-BB3E-4AAB6800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0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The starting 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AE81C-5FCA-42C5-9DA9-F2BBF02B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382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Two coursework exercises shared a model-selection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645A7-46CC-40A9-A259-FE2872DD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1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E0265-8DE6-4075-80BC-06BD7DEC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9530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FE9CA-7FAC-45C9-AF25-336A2B9D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4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Housing regression notebook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3B84C-48DB-42EA-A9DA-8D8D85AA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• One-hot location and standardize numerical features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• Train a linear model with gradient descent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• Predict a fixed Downtown query house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• Eight rows, no original holdout protocol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6C34A-B6AB-4E25-9762-DC07C28F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38300"/>
            <a:ext cx="57150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46DED-9952-42BA-B0E0-E16233C9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240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4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MNIST MLP notebook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8073F-96D6-49CC-9C63-0A9B8A43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• Load MNIST through torchvision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• Train a dropout MLP with Adam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• 50,000 train and 10,000 validation examples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• Saved baseline: 97.80% test 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0A088-88D3-4528-AF3D-1231D25F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1430">
            <a:solidFill>
              <a:srgbClr val="F9731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BB91E-991E-4672-9970-AF308AC2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387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3FBCE-26A8-4352-B920-8DA98E3B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911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Can one inspectable search controller select useful configurations across both tasks?</a:t>
            </a:r>
          </a:p>
        </p:txBody>
      </p:sp>
    </p:spTree>
    <p:extLst>
      <p:ext uri="{BB962C8B-B14F-4D97-AF65-F5344CB8AC3E}">
        <p14:creationId xmlns:p14="http://schemas.microsoft.com/office/powerpoint/2010/main" val="12371422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93552-0A10-408F-AFCF-991D4062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3CC4C-6A06-4E6A-9A65-4E730FF8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0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A shared optimization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F2463-33FD-4E51-BCB5-0FE0A968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382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Search policy stays separate from task-specific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4A7B4-B400-4B97-8FAC-C4C22A48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1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04A83-4551-4A3F-B5F4-4EBAAD27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266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9EEFF"/>
          </a:solidFill>
          <a:ln xmlns:a="http://schemas.openxmlformats.org/drawingml/2006/main" w="11430">
            <a:solidFill>
              <a:srgbClr val="2E5B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5AF85-5DC9-470F-9F33-D0621466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Configuration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graph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BCCA7-2B6E-42CC-B99B-14967096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38300"/>
            <a:ext cx="2476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1430">
            <a:solidFill>
              <a:srgbClr val="F9731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E92BB-EA01-4328-B34F-6A0D7D24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71675"/>
            <a:ext cx="2171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Best-first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graph 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10AFF-4A27-4FBB-B86B-8BE60DDD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43300"/>
            <a:ext cx="2476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7F8F0"/>
          </a:solidFill>
          <a:ln xmlns:a="http://schemas.openxmlformats.org/drawingml/2006/main" w="11430">
            <a:solidFill>
              <a:srgbClr val="10B98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A710C-A28E-4012-A397-231579E8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76675"/>
            <a:ext cx="2171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Genetic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optimization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C07B6-A644-486D-BE70-0AE8EDE6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09800"/>
            <a:ext cx="2324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11430">
            <a:solidFill>
              <a:srgbClr val="7C3AE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8D794-8B39-4107-8908-93767415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43175"/>
            <a:ext cx="2019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Task adapters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75B74-2E0F-41DE-87FB-13B36DC8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0980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05966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18DB9-0CDF-4D41-8DC1-381D1FBD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43175"/>
            <a:ext cx="150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Metrics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JSON trace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44E75-E038-4F2B-9999-D63A773A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09875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7556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6E667-2774-4C6F-828A-8FAE23CA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38375"/>
            <a:ext cx="62865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7556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603D8A-65AF-41F9-9ADC-FAE7D090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09875"/>
            <a:ext cx="62865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7556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A7F750-1E61-4B67-947E-22A61092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9875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7556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32D515-B8C7-4CE6-AE76-E80487D4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0987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7556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27B4C9-08F8-496D-9A31-8A3E4768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7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One configuration schema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for both learning tasks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8E8D44-980B-4717-A226-F76359B3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957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9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Each optimizer returns the same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configuration, score, and history fields</a:t>
            </a:r>
          </a:p>
        </p:txBody>
      </p:sp>
    </p:spTree>
    <p:extLst>
      <p:ext uri="{BB962C8B-B14F-4D97-AF65-F5344CB8AC3E}">
        <p14:creationId xmlns:p14="http://schemas.microsoft.com/office/powerpoint/2010/main" val="1341960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C854F-8B58-4C89-BFE9-52A7A357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CD9F3-C1BF-4C13-97F3-B81AAE18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0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The configuration 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D42CE-B418-4B9A-AEFF-C4EADBE8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382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 node is a complete model configuration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012C7-A31C-4DDE-A607-D6EE0A9E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1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A3B6C-12A5-4BD9-84D7-001E418B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457200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44C26-346E-43FC-9AE6-966A96D3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4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State representation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9B85C-D274-4D4B-B0EC-91571EBE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9EEFF"/>
          </a:solidFill>
          <a:ln xmlns:a="http://schemas.openxmlformats.org/drawingml/2006/main" w="11430">
            <a:solidFill>
              <a:srgbClr val="2E5B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CD771-2F2E-41E4-A826-3DC407CD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lr = 0.005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epochs = 500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581CD-BE96-49E8-A31F-1A639602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6225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1430">
            <a:solidFill>
              <a:srgbClr val="F9731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EA7DC-6C79-48C1-8FF9-F0F534E1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98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l2 = 0.01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786F0-2291-4881-8B51-B0FED587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5277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556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7D32A-3AC7-49ED-BE0A-B3AFC4A1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373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 neighbor changes exactly one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allowed parameter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2C618-1A2B-4767-84C9-9804DD93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33550"/>
            <a:ext cx="569595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47230-222E-442A-B9EB-3E94DBDB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4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Why the graph matters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833EC-2DA5-44AA-BD04-97E85979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• Finite and serializable search states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• Lazy neighbor expansion, no adjacency matrix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• Objective values provide a common ranking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• Evaluation cache prevents duplicate work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• Convergence history makes decisions auditable</a:t>
            </a:r>
          </a:p>
        </p:txBody>
      </p:sp>
    </p:spTree>
    <p:extLst>
      <p:ext uri="{BB962C8B-B14F-4D97-AF65-F5344CB8AC3E}">
        <p14:creationId xmlns:p14="http://schemas.microsoft.com/office/powerpoint/2010/main" val="15540641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992C24-1BF6-40AA-BDD2-05587EB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85CA2-393A-421C-9EFC-91B48F91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0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Two search policies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3FA79-8654-4B27-B2D6-20F2D865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382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Informed traversal and population-based exploration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5D80B-DDBC-46C8-9459-59E1691F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1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200F1-9E5A-4688-BB77-C8407586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514350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1430">
            <a:solidFill>
              <a:srgbClr val="F9731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5F0B9-9B46-4328-8E12-8263E786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7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Best-first graph 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C1D8B-2532-4264-8FFE-4CE925DE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0F361-4DB8-4074-A9E1-A775F49F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003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9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Score the start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CC8B6-0F93-4CB7-9786-661B6CF0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1752C-6D21-4574-A869-F385038A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099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9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Queue its neighbors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7FA25-BBFE-4EDE-BB8F-7FDB8D2E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29B05-E325-4E31-8F9C-C5CD4A37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195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9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Expand the lowest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7CC98-0880-4DB3-A208-7390297B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64748B"/>
                </a:solidFill>
                <a:latin typeface="Arial"/>
                <a:ea typeface="Arial"/>
                <a:cs typeface="Arial"/>
              </a:rPr>
              <a:t>Good fit when local objective values are informative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C8E52-9919-4301-8D21-F178C169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76400"/>
            <a:ext cx="514350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E7F8F0"/>
          </a:solidFill>
          <a:ln xmlns:a="http://schemas.openxmlformats.org/drawingml/2006/main" w="11430">
            <a:solidFill>
              <a:srgbClr val="10B98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4E17E6-C747-44E5-B89E-7CB246D3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812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7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Genetic optimization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C221AE-0A1B-44E6-B950-5CFD6215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B98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30040-2E08-4D67-9A2A-0F1079BF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9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Rank a candidate population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817A7B-0DB7-4D30-A883-FE6FB6E7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52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B98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8A09CF-ACB8-4914-A2C2-961C2132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099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9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Keep elites and cross over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4A20B-5724-42B6-8D49-EE9314AB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62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B98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32192-A92C-4F6E-BB08-9C59A34D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195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9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Mutate and repeat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438E0A-03EB-4BCC-93D6-D766EBA4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64748B"/>
                </a:solidFill>
                <a:latin typeface="Arial"/>
                <a:ea typeface="Arial"/>
                <a:cs typeface="Arial"/>
              </a:rPr>
              <a:t>Good fit when diversity helps avoid local choices</a:t>
            </a:r>
          </a:p>
        </p:txBody>
      </p:sp>
    </p:spTree>
    <p:extLst>
      <p:ext uri="{BB962C8B-B14F-4D97-AF65-F5344CB8AC3E}">
        <p14:creationId xmlns:p14="http://schemas.microsoft.com/office/powerpoint/2010/main" val="6721417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E6CA63-9E18-4847-A740-7ADCD6C5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F97E6-B30F-4128-8181-D0FDFF07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0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Two tasks, one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4BD0F-50E8-438C-91E6-7CE57CD5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382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The optimizer changes configurations; the task owns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26B64-9D0E-4142-990C-2E28490B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1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2A59F-A23A-41A1-BB10-DB4ECD0C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143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FDD13-EB40-4398-9C91-A904D4EB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7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Housing regression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A5E31-7D1C-4E0E-9BCD-CFFE5D8E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85669-C1D0-4748-B6B4-AE076C2F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67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Location, size, rooms, garage, 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927DC-4F8D-48ED-8702-674BFCD4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1780B-B861-4207-B646-2BD5984D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19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Standardized linear regression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E251E-8B22-463E-A57C-D275283D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B446D-330B-4017-AB1F-50E5FEBD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71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Two-row holdout MSE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024BA-D506-4F9C-9035-87DC844E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C9ED2-A13E-40A2-A674-0E2E9E04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24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Eight pedagogical examples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4A086-EBBB-484B-902E-F276912A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14500"/>
            <a:ext cx="5143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2A1F30-7999-4192-A9EF-F9B3A054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00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7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MNIST classification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7F46A8-54C7-45DE-BA28-EE328FE7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860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B981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BCA06-429C-416A-B0D0-97D7363C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67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28 × 28 grayscale digit images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F688B8-79E3-4866-BBBA-C9EF7B38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38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B981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478369-D53E-4B85-BE22-D49A52CC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19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PyTorch MLP with dropout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4C6FB1-4F65-40CD-97FE-AA758CB6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90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B981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EC34D1-7C20-4D6B-908D-5A020E6B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71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Validation loss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9F7D64-645D-422D-B306-99006321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434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B981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589B31-EFCA-4281-A9A0-1C7342FC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24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50k train, 10k validation</a:t>
            </a:r>
          </a:p>
        </p:txBody>
      </p:sp>
    </p:spTree>
    <p:extLst>
      <p:ext uri="{BB962C8B-B14F-4D97-AF65-F5344CB8AC3E}">
        <p14:creationId xmlns:p14="http://schemas.microsoft.com/office/powerpoint/2010/main" val="11151030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2BD559-A61C-4230-BF0A-A7A0E55F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BF5B6-9664-4C10-A170-25CC3970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0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Experiment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68FDB-7684-4A6E-ABBB-D55FC3E9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382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Every result carries enough context to be rerun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23DF0-81ED-479B-8455-34C31FCE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1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75DDA-D500-4148-A42B-F34E122B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9EEFF"/>
          </a:solidFill>
          <a:ln xmlns:a="http://schemas.openxmlformats.org/drawingml/2006/main" w="11430">
            <a:solidFill>
              <a:srgbClr val="2E5B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4CBF0-2902-4E6B-9CA4-5D8656FD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8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E5B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E5B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A58FF-A7E2-4BF7-AA7B-F53EB970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9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Define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FB004-D7FF-4D22-AB81-896C9B7A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Finite configuration 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3F6C9-21A2-46DF-8622-78A6ACBB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0037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556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50DE8-B4A4-4B7F-BB70-B58C03FC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95500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8F0"/>
          </a:solidFill>
          <a:ln xmlns:a="http://schemas.openxmlformats.org/drawingml/2006/main" w="11430">
            <a:solidFill>
              <a:srgbClr val="10B98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949EA-697C-42CF-A158-81F8D4CA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05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8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B98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3ABD3-9D0F-4EB9-A2D4-2BB28D25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1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9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59796-3FD8-4C87-9573-0D956EB1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575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Task-specific objective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BA2B8C-F696-4C0E-9E86-5B5E3D99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0037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556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6F06E-EA77-47A2-99E1-9D65646A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9EEFF"/>
          </a:solidFill>
          <a:ln xmlns:a="http://schemas.openxmlformats.org/drawingml/2006/main" w="11430">
            <a:solidFill>
              <a:srgbClr val="2E5B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B0E76-538D-4D9D-BCB8-8364E4F0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8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E5B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E5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4234C-66A5-48CF-A767-E85D3EAF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81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9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C1F52-4257-4109-9D00-EE0CAE49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575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8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Budgeted optimizer 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E24817-B66E-4366-8061-F8B1E859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037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556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54C5C-82FF-428F-80AE-A5E61C9D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95500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8F0"/>
          </a:solidFill>
          <a:ln xmlns:a="http://schemas.openxmlformats.org/drawingml/2006/main" w="11430">
            <a:solidFill>
              <a:srgbClr val="10B98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146EA-7650-44AE-9489-B6268385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05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8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B98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C225F-695D-4D2B-9DD0-1DADE41B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9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E1EE8-5D06-40D2-908B-625FB7FB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575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Config, score, count, 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A51037-DBB2-41A7-8A24-C0012E7D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1047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1430">
            <a:solidFill>
              <a:srgbClr val="D9E1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9FD98B-7239-4AD0-BB4D-990A7DE3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8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Fixed seed: 42    |    Cache repeated configurations    |    Separate baseline evidence from new runs</a:t>
            </a:r>
          </a:p>
        </p:txBody>
      </p:sp>
    </p:spTree>
    <p:extLst>
      <p:ext uri="{BB962C8B-B14F-4D97-AF65-F5344CB8AC3E}">
        <p14:creationId xmlns:p14="http://schemas.microsoft.com/office/powerpoint/2010/main" val="6692089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3A7F4-97E8-47F8-AF9F-004B3AE0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B35C1-E22B-4A47-9505-D926F4C0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0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Housing search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2CFB3-0862-45C3-A368-53CA989C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382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Both optimizers converged to the same configuration on the smoke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FB651-406D-4679-8FD7-FA714B9F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1EC"/>
            </a:solidFill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81050" y="1771650"/>
          <a:ext xmlns:a="http://schemas.openxmlformats.org/drawingml/2006/main" cx="666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5db1b0f989437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E8871-C93F-4C7A-8273-68037054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71650"/>
            <a:ext cx="3238500" cy="35242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396CC-C03C-42A5-BDF2-22C6D3BC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5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Selected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1ECE0-A768-411B-A6A7-D3B2A27D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860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learning rate  0.005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75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epochs  500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75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L2  0.01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2FF39-6C29-43E3-BB94-AC9BFEEF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B2F40-C2A0-4BDA-BABD-BD99F737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Best-first: 18 evaluations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Genetic: 12 unique evaluations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E5DAD-1D6A-4EF9-82EB-B52D7A08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64748B"/>
                </a:solidFill>
                <a:latin typeface="Arial"/>
                <a:ea typeface="Arial"/>
                <a:cs typeface="Arial"/>
              </a:rPr>
              <a:t>Interpretation: integration evidence, not population-level housing evidence.</a:t>
            </a:r>
          </a:p>
        </p:txBody>
      </p:sp>
    </p:spTree>
    <p:extLst>
      <p:ext uri="{BB962C8B-B14F-4D97-AF65-F5344CB8AC3E}">
        <p14:creationId xmlns:p14="http://schemas.microsoft.com/office/powerpoint/2010/main" val="6944784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C5CBC-D201-40FB-B639-1FF5E717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A9F7E-0D43-4338-B7A6-201494C3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0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MNIST baseline and current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54A96-5FBC-441C-BB67-F9DFC103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382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The original notebook supplies a baseline; the integrated search is ready to rerun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62A17-7FAD-461E-A22C-C47F99D7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1EC"/>
            </a:solidFill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04850" y="1771650"/>
          <a:ext xmlns:a="http://schemas.openxmlformats.org/drawingml/2006/main" cx="6858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23f51d2f92433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CA6C9-1935-46F0-9285-4C0AA8CB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71650"/>
            <a:ext cx="3333750" cy="35242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9EEFF"/>
          </a:solidFill>
          <a:ln xmlns:a="http://schemas.openxmlformats.org/drawingml/2006/main" w="11430">
            <a:solidFill>
              <a:srgbClr val="2E5B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376CB-5B4A-480A-8F8D-F9713561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4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32B"/>
                </a:solidFill>
                <a:latin typeface="Arial"/>
                <a:ea typeface="Arial"/>
                <a:cs typeface="Arial"/>
              </a:rPr>
              <a:t>What is established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92F42-F02E-4D7C-BB76-C1662398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2705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• Saved test baseline: 97.80%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• Five training epochs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• Integrated runner exposes MLP widths, dropout, learning rate, and epochs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 i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• Fresh optimizer comparison requires the declared PyTorch environment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F194A-3024-4FBB-B1B2-1BA2D9EF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64748B"/>
                </a:solidFill>
                <a:latin typeface="Arial"/>
                <a:ea typeface="Arial"/>
                <a:cs typeface="Arial"/>
              </a:rPr>
              <a:t>No new MNIST genetic-search score is claimed from this validation host.</a:t>
            </a:r>
          </a:p>
        </p:txBody>
      </p:sp>
    </p:spTree>
    <p:extLst>
      <p:ext uri="{BB962C8B-B14F-4D97-AF65-F5344CB8AC3E}">
        <p14:creationId xmlns:p14="http://schemas.microsoft.com/office/powerpoint/2010/main" val="16178992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C8D75-D6B3-4F3B-9965-D803439C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79897-C7D6-45E4-8A5F-5ED96BC8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D5DDF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5DDF0"/>
                </a:solidFill>
                <a:latin typeface="Arial"/>
                <a:ea typeface="Arial"/>
                <a:cs typeface="Arial"/>
              </a:rPr>
              <a:t>The project is now a reproducible optimization study with clear next experiments.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3D256-D865-4C48-9FD9-434B6D11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14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3E8F2-8800-4898-AB51-04C4A4AF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Key takeaways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689AE-97AA-49BD-8219-6AC25D4B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A shared search layer connects two original AI tasks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Best-first and genetic methods produce auditable traces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Housing evidence is a smoke test; MNIST is ready for rerun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Next: repeated seeds and a public housing 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3A62F-6E39-4672-AFC3-0E7E0D45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Selected 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7C5B5-B924-48D5-A69D-C787CEDF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D5DDF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5DDF0"/>
                </a:solidFill>
                <a:latin typeface="Arial"/>
                <a:ea typeface="Arial"/>
                <a:cs typeface="Arial"/>
              </a:rPr>
              <a:t>[1] Russell and Norvig, Artificial Intelligence: A Modern Approach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D5DDF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5DDF0"/>
                </a:solidFill>
                <a:latin typeface="Arial"/>
                <a:ea typeface="Arial"/>
                <a:cs typeface="Arial"/>
              </a:rPr>
              <a:t>[2] Goldberg, Genetic Algorithms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D5DDF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5DDF0"/>
                </a:solidFill>
                <a:latin typeface="Arial"/>
                <a:ea typeface="Arial"/>
                <a:cs typeface="Arial"/>
              </a:rPr>
              <a:t>[3] Rumelhart, Hinton, and Williams, backpropagation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D5DDF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5DDF0"/>
                </a:solidFill>
                <a:latin typeface="Arial"/>
                <a:ea typeface="Arial"/>
                <a:cs typeface="Arial"/>
              </a:rPr>
              <a:t>[4] LeCun et al., MNIST and document recognition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BF46A-15EA-4EFD-AA99-5CC4386D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3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7F94B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F94BD"/>
                </a:solidFill>
                <a:latin typeface="Arial"/>
                <a:ea typeface="Arial"/>
                <a:cs typeface="Arial"/>
              </a:rPr>
              <a:t>Graph Search and Evolutionary Optimization  |  Naga Sampath Maddineni</a:t>
            </a:r>
          </a:p>
        </p:txBody>
      </p:sp>
    </p:spTree>
    <p:extLst>
      <p:ext uri="{BB962C8B-B14F-4D97-AF65-F5344CB8AC3E}">
        <p14:creationId xmlns:p14="http://schemas.microsoft.com/office/powerpoint/2010/main" val="1853930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2026-10-09T17:16:26.9290000Z</dcterms:created>
  <dcterms:modified xsi:type="dcterms:W3CDTF">2026-10-09T17:16:26.9290000Z</dcterms:modified>
</coreProperties>
</file>