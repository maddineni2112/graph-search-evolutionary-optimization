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2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070e7c6b8354626" /><Relationship Type="http://schemas.openxmlformats.org/officeDocument/2006/relationships/extended-properties" Target="/docProps/app.xml" Id="R3764fc2a04384a5f" /><Relationship Type="http://schemas.openxmlformats.org/officeDocument/2006/relationships/officeDocument" Target="/ppt/presentation.xml" Id="R959cc4b7d62c498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15c541a6c9f40c0"/>
  </p:sldMasterIdLst>
  <p:notesMasterIdLst>
    <p:notesMasterId xmlns:r="http://schemas.openxmlformats.org/officeDocument/2006/relationships" r:id="R24e07715d5904d5a"/>
  </p:notesMasterIdLst>
  <p:sldIdLst>
    <p:sldId xmlns:r="http://schemas.openxmlformats.org/officeDocument/2006/relationships" id="256" r:id="R9326ddc930934c50"/>
    <p:sldId xmlns:r="http://schemas.openxmlformats.org/officeDocument/2006/relationships" id="257" r:id="Rf0dc159f80044c26"/>
    <p:sldId xmlns:r="http://schemas.openxmlformats.org/officeDocument/2006/relationships" id="258" r:id="Ra82f6716c9004cbf"/>
    <p:sldId xmlns:r="http://schemas.openxmlformats.org/officeDocument/2006/relationships" id="259" r:id="Re090afc5f111483f"/>
    <p:sldId xmlns:r="http://schemas.openxmlformats.org/officeDocument/2006/relationships" id="260" r:id="R386a02918315437b"/>
    <p:sldId xmlns:r="http://schemas.openxmlformats.org/officeDocument/2006/relationships" id="261" r:id="R2371cd96aabc407c"/>
    <p:sldId xmlns:r="http://schemas.openxmlformats.org/officeDocument/2006/relationships" id="262" r:id="R7f7526a8cb48422a"/>
    <p:sldId xmlns:r="http://schemas.openxmlformats.org/officeDocument/2006/relationships" id="263" r:id="Rdab4b583cc314094"/>
    <p:sldId xmlns:r="http://schemas.openxmlformats.org/officeDocument/2006/relationships" id="264" r:id="R38dd29d9e0194db0"/>
    <p:sldId xmlns:r="http://schemas.openxmlformats.org/officeDocument/2006/relationships" id="265" r:id="R04ca0fad6bd7481e"/>
    <p:sldId xmlns:r="http://schemas.openxmlformats.org/officeDocument/2006/relationships" id="266" r:id="R5e06066455b04f4a"/>
    <p:sldId xmlns:r="http://schemas.openxmlformats.org/officeDocument/2006/relationships" id="267" r:id="R7433618b29b94d9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3abadce0c854fcb" /><Relationship Type="http://schemas.openxmlformats.org/officeDocument/2006/relationships/slideMaster" Target="/ppt/slideMasters/slideMaster1.xml" Id="Rb15c541a6c9f40c0" /><Relationship Type="http://schemas.openxmlformats.org/officeDocument/2006/relationships/notesMaster" Target="/ppt/notesMasters/notesMaster1.xml" Id="R24e07715d5904d5a" /><Relationship Type="http://schemas.openxmlformats.org/officeDocument/2006/relationships/presProps" Target="/ppt/presProps.xml" Id="R0186ba0e2afd4db7" /><Relationship Type="http://schemas.openxmlformats.org/officeDocument/2006/relationships/tableStyles" Target="/ppt/tableStyles.xml" Id="R9df483234a954c80" /><Relationship Type="http://schemas.openxmlformats.org/officeDocument/2006/relationships/slide" Target="/ppt/slides/slide1.xml" Id="R9326ddc930934c50" /><Relationship Type="http://schemas.openxmlformats.org/officeDocument/2006/relationships/slide" Target="/ppt/slides/slide2.xml" Id="Rf0dc159f80044c26" /><Relationship Type="http://schemas.openxmlformats.org/officeDocument/2006/relationships/slide" Target="/ppt/slides/slide3.xml" Id="Ra82f6716c9004cbf" /><Relationship Type="http://schemas.openxmlformats.org/officeDocument/2006/relationships/slide" Target="/ppt/slides/slide4.xml" Id="Re090afc5f111483f" /><Relationship Type="http://schemas.openxmlformats.org/officeDocument/2006/relationships/slide" Target="/ppt/slides/slide5.xml" Id="R386a02918315437b" /><Relationship Type="http://schemas.openxmlformats.org/officeDocument/2006/relationships/slide" Target="/ppt/slides/slide6.xml" Id="R2371cd96aabc407c" /><Relationship Type="http://schemas.openxmlformats.org/officeDocument/2006/relationships/slide" Target="/ppt/slides/slide7.xml" Id="R7f7526a8cb48422a" /><Relationship Type="http://schemas.openxmlformats.org/officeDocument/2006/relationships/slide" Target="/ppt/slides/slide8.xml" Id="Rdab4b583cc314094" /><Relationship Type="http://schemas.openxmlformats.org/officeDocument/2006/relationships/slide" Target="/ppt/slides/slide9.xml" Id="R38dd29d9e0194db0" /><Relationship Type="http://schemas.openxmlformats.org/officeDocument/2006/relationships/slide" Target="/ppt/slides/slide10.xml" Id="R04ca0fad6bd7481e" /><Relationship Type="http://schemas.openxmlformats.org/officeDocument/2006/relationships/slide" Target="/ppt/slides/slide11.xml" Id="R5e06066455b04f4a" /><Relationship Type="http://schemas.openxmlformats.org/officeDocument/2006/relationships/slide" Target="/ppt/slides/slide12.xml" Id="R7433618b29b94d9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2375c1d79d647e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aac6f6ecfd4456c" /><Relationship Type="http://schemas.openxmlformats.org/officeDocument/2006/relationships/notesMaster" Target="/ppt/notesMasters/notesMaster1.xml" Id="Rf2153ce84aeb455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abc4769e8c24e33" /><Relationship Type="http://schemas.openxmlformats.org/officeDocument/2006/relationships/notesMaster" Target="/ppt/notesMasters/notesMaster1.xml" Id="R842ee04f5da5429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fe38997551a43bc" /><Relationship Type="http://schemas.openxmlformats.org/officeDocument/2006/relationships/notesMaster" Target="/ppt/notesMasters/notesMaster1.xml" Id="R70b100ca03bf484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5026a3e3cde4997" /><Relationship Type="http://schemas.openxmlformats.org/officeDocument/2006/relationships/notesMaster" Target="/ppt/notesMasters/notesMaster1.xml" Id="R25bcf6a78ded40f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e87951ce134400c" /><Relationship Type="http://schemas.openxmlformats.org/officeDocument/2006/relationships/notesMaster" Target="/ppt/notesMasters/notesMaster1.xml" Id="Rd5cbb807ef60463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6150befc97743ea" /><Relationship Type="http://schemas.openxmlformats.org/officeDocument/2006/relationships/notesMaster" Target="/ppt/notesMasters/notesMaster1.xml" Id="R3b656161c3f34ef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6e093f691204c6c" /><Relationship Type="http://schemas.openxmlformats.org/officeDocument/2006/relationships/notesMaster" Target="/ppt/notesMasters/notesMaster1.xml" Id="Ra9c4ab4f5f7f4c5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90b795771194c58" /><Relationship Type="http://schemas.openxmlformats.org/officeDocument/2006/relationships/notesMaster" Target="/ppt/notesMasters/notesMaster1.xml" Id="Rfc11f88ed3ac464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e9094d8767a4d47" /><Relationship Type="http://schemas.openxmlformats.org/officeDocument/2006/relationships/notesMaster" Target="/ppt/notesMasters/notesMaster1.xml" Id="Reebacb3feb2b4f3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d7576ca6fc549f8" /><Relationship Type="http://schemas.openxmlformats.org/officeDocument/2006/relationships/notesMaster" Target="/ppt/notesMasters/notesMaster1.xml" Id="R1c9a24b6dd1b445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ef3df42ae4f408e" /><Relationship Type="http://schemas.openxmlformats.org/officeDocument/2006/relationships/notesMaster" Target="/ppt/notesMasters/notesMaster1.xml" Id="R8b58ef1de44b455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a5de68c420243a9" /><Relationship Type="http://schemas.openxmlformats.org/officeDocument/2006/relationships/notesMaster" Target="/ppt/notesMasters/notesMaster1.xml" Id="Rdcb9eceb2ee74b8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c2725644434e8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67abcdad72942a6" /><Relationship Type="http://schemas.openxmlformats.org/officeDocument/2006/relationships/slideLayout" Target="/ppt/slideLayouts/slideLayout1.xml" Id="R1a4ac748281f4f6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a4ac748281f4f6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27e40b955c480e" /><Relationship Type="http://schemas.openxmlformats.org/officeDocument/2006/relationships/notesSlide" Target="/ppt/notesSlides/notesSlide1.xml" Id="Rd278b60bd03740e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e4b712e7114a1b" /><Relationship Type="http://schemas.openxmlformats.org/officeDocument/2006/relationships/notesSlide" Target="/ppt/notesSlides/notesSlide2.xml" Id="R0b5820f7b480490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bf663fe16741f4" /><Relationship Type="http://schemas.openxmlformats.org/officeDocument/2006/relationships/notesSlide" Target="/ppt/notesSlides/notesSlide3.xml" Id="Rfb906974cb3546b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26f48a9d274c30" /><Relationship Type="http://schemas.openxmlformats.org/officeDocument/2006/relationships/notesSlide" Target="/ppt/notesSlides/notesSlide4.xml" Id="R64acd2da39fd453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0fbdcc54b74848" /><Relationship Type="http://schemas.openxmlformats.org/officeDocument/2006/relationships/notesSlide" Target="/ppt/notesSlides/notesSlide5.xml" Id="Rd0169121e4e7464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e44215467949c5" /><Relationship Type="http://schemas.openxmlformats.org/officeDocument/2006/relationships/notesSlide" Target="/ppt/notesSlides/notesSlide6.xml" Id="R2e08ecff58a3465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830ce32dd9461e" /><Relationship Type="http://schemas.openxmlformats.org/officeDocument/2006/relationships/notesSlide" Target="/ppt/notesSlides/notesSlide7.xml" Id="R2bcfc69b7e484cd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236115f100430a" /><Relationship Type="http://schemas.openxmlformats.org/officeDocument/2006/relationships/notesSlide" Target="/ppt/notesSlides/notesSlide8.xml" Id="R3edfd88a0ac74e1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5fd2fe5cdb4151" /><Relationship Type="http://schemas.openxmlformats.org/officeDocument/2006/relationships/image" Target="/ppt/media/image.png" Id="R2dc6312647144b00" /><Relationship Type="http://schemas.openxmlformats.org/officeDocument/2006/relationships/image" Target="/ppt/media/image.svg" Id="Rbc0ba8cda84a497f" /><Relationship Type="http://schemas.openxmlformats.org/officeDocument/2006/relationships/notesSlide" Target="/ppt/notesSlides/notesSlide9.xml" Id="Rcff372c42ac142a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10ee9d042e4c9b" /><Relationship Type="http://schemas.openxmlformats.org/officeDocument/2006/relationships/chart" Target="/ppt/slides/charts/chart1.xml" Id="R6b8090a2e47a4b62" /><Relationship Type="http://schemas.openxmlformats.org/officeDocument/2006/relationships/notesSlide" Target="/ppt/notesSlides/notesSlide10.xml" Id="Rd45a2eac70b044f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15d859a8a44adb" /><Relationship Type="http://schemas.openxmlformats.org/officeDocument/2006/relationships/image" Target="/ppt/media/image2.png" Id="R3d42bb5afe044f7a" /><Relationship Type="http://schemas.openxmlformats.org/officeDocument/2006/relationships/image" Target="/ppt/media/image2.svg" Id="Rd5cdef9608584479" /><Relationship Type="http://schemas.openxmlformats.org/officeDocument/2006/relationships/chart" Target="/ppt/slides/charts/chart2.xml" Id="R96549bb5e0754141" /><Relationship Type="http://schemas.openxmlformats.org/officeDocument/2006/relationships/notesSlide" Target="/ppt/notesSlides/notesSlide11.xml" Id="R313af8aef4e24b2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29a3c89fa04eae" /><Relationship Type="http://schemas.openxmlformats.org/officeDocument/2006/relationships/notesSlide" Target="/ppt/notesSlides/notesSlide12.xml" Id="R15cb81a8349c445c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Unit maps</c:v>
          </c:tx>
          <c:spPr>
            <a:solidFill xmlns:a="http://schemas.openxmlformats.org/drawingml/2006/main">
              <a:srgbClr val="2E5BFF"/>
            </a:solidFill>
          </c:spPr>
          <c:cat>
            <c:strRef>
              <c:f>'Chart Data'!$A$2:$A$7</c:f>
              <c:strCache>
                <c:ptCount val="6"/>
                <c:pt idx="0">
                  <c:v>BFS</c:v>
                </c:pt>
                <c:pt idx="1">
                  <c:v>DFS</c:v>
                </c:pt>
                <c:pt idx="2">
                  <c:v>IDS</c:v>
                </c:pt>
                <c:pt idx="3">
                  <c:v>UCS</c:v>
                </c:pt>
                <c:pt idx="4">
                  <c:v>Greedy</c:v>
                </c:pt>
                <c:pt idx="5">
                  <c:v>A*</c:v>
                </c:pt>
              </c:strCache>
            </c:strRef>
          </c:cat>
          <c:val>
            <c:numRef>
              <c:f>'Chart Data'!$B$2:$B$7</c:f>
              <c:numCache>
                <c:formatCode>General</c:formatCode>
                <c:ptCount val="6"/>
                <c:pt idx="0">
                  <c:v>48</c:v>
                </c:pt>
                <c:pt idx="1">
                  <c:v>74</c:v>
                </c:pt>
                <c:pt idx="2">
                  <c:v>48</c:v>
                </c:pt>
                <c:pt idx="3">
                  <c:v>48</c:v>
                </c:pt>
                <c:pt idx="4">
                  <c:v>53</c:v>
                </c:pt>
                <c:pt idx="5">
                  <c:v>48</c:v>
                </c:pt>
              </c:numCache>
            </c:numRef>
          </c:val>
        </c:ser>
        <c:ser>
          <c:idx val="1"/>
          <c:order val="1"/>
          <c:tx>
            <c:v>Weighted maps</c:v>
          </c:tx>
          <c:spPr>
            <a:solidFill xmlns:a="http://schemas.openxmlformats.org/drawingml/2006/main">
              <a:srgbClr val="F97316"/>
            </a:solidFill>
          </c:spPr>
          <c:cat>
            <c:strRef>
              <c:f>'Chart Data'!$C$2:$C$7</c:f>
              <c:strCache>
                <c:ptCount val="6"/>
                <c:pt idx="0">
                  <c:v>BFS</c:v>
                </c:pt>
                <c:pt idx="1">
                  <c:v>DFS</c:v>
                </c:pt>
                <c:pt idx="2">
                  <c:v>IDS</c:v>
                </c:pt>
                <c:pt idx="3">
                  <c:v>UCS</c:v>
                </c:pt>
                <c:pt idx="4">
                  <c:v>Greedy</c:v>
                </c:pt>
                <c:pt idx="5">
                  <c:v>A*</c:v>
                </c:pt>
              </c:strCache>
            </c:strRef>
          </c:cat>
          <c:val>
            <c:numRef>
              <c:f>'Chart Data'!$D$2:$D$7</c:f>
              <c:numCache>
                <c:formatCode>General</c:formatCode>
                <c:ptCount val="6"/>
                <c:pt idx="0">
                  <c:v>185</c:v>
                </c:pt>
                <c:pt idx="1">
                  <c:v>230</c:v>
                </c:pt>
                <c:pt idx="2">
                  <c:v>185</c:v>
                </c:pt>
                <c:pt idx="3">
                  <c:v>122</c:v>
                </c:pt>
                <c:pt idx="4">
                  <c:v>153</c:v>
                </c:pt>
                <c:pt idx="5">
                  <c:v>122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0B132B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250"/>
          <c:min val="0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50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rial"/>
              <a:ea typeface="Arial"/>
              <a:cs typeface="Arial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15% obstacles</c:v>
          </c:tx>
          <c:spPr>
            <a:solidFill xmlns:a="http://schemas.openxmlformats.org/drawingml/2006/main">
              <a:srgbClr val="2E5BFF"/>
            </a:solidFill>
          </c:spPr>
          <c:cat>
            <c:strRef>
              <c:f>'Chart Data'!$A$2:$A$4</c:f>
              <c:strCache>
                <c:ptCount val="3"/>
                <c:pt idx="0">
                  <c:v>15x15</c:v>
                </c:pt>
                <c:pt idx="1">
                  <c:v>25x25</c:v>
                </c:pt>
                <c:pt idx="2">
                  <c:v>35x35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158</c:v>
                </c:pt>
                <c:pt idx="1">
                  <c:v>472</c:v>
                </c:pt>
                <c:pt idx="2">
                  <c:v>932</c:v>
                </c:pt>
              </c:numCache>
            </c:numRef>
          </c:val>
        </c:ser>
        <c:ser>
          <c:idx val="1"/>
          <c:order val="1"/>
          <c:tx>
            <c:v>25% obstacles</c:v>
          </c:tx>
          <c:spPr>
            <a:solidFill xmlns:a="http://schemas.openxmlformats.org/drawingml/2006/main">
              <a:srgbClr val="F97316"/>
            </a:solidFill>
          </c:spPr>
          <c:cat>
            <c:strRef>
              <c:f>'Chart Data'!$C$2:$C$4</c:f>
              <c:strCache>
                <c:ptCount val="3"/>
                <c:pt idx="0">
                  <c:v>15x15</c:v>
                </c:pt>
                <c:pt idx="1">
                  <c:v>25x25</c:v>
                </c:pt>
                <c:pt idx="2">
                  <c:v>35x35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156</c:v>
                </c:pt>
                <c:pt idx="1">
                  <c:v>353</c:v>
                </c:pt>
                <c:pt idx="2">
                  <c:v>688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0B132B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100"/>
          <c:min val="0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250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rial"/>
              <a:ea typeface="Arial"/>
              <a:cs typeface="Arial"/>
            </a:defRPr>
          </a:pPr>
        </a:p>
      </c:txPr>
    </c:legend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3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F9888F-913A-4131-8671-E6690CCD5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875" b="1" i="0">
                <a:solidFill>
                  <a:srgbClr val="F97316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SEARCH-GUIDED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F95964-F6E7-4D12-AC57-7B5093922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85950"/>
            <a:ext cx="1000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33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Evolutionary Optimization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6BB22B-2EAC-43D2-B649-5C7FE1AE0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57450"/>
            <a:ext cx="10001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31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for Graph Pathfinding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05C9F5-EAB9-480C-8751-33A375E71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0"/>
            <a:ext cx="1000125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31466E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52321A-B3CE-4E3B-8113-636B99CED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14750"/>
            <a:ext cx="933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650" b="0" i="0">
                <a:solidFill>
                  <a:srgbClr val="D5DDF0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D5DDF0"/>
                </a:solidFill>
                <a:latin typeface="Arial"/>
                <a:ea typeface="Arial"/>
                <a:cs typeface="Arial"/>
              </a:rPr>
              <a:t>A comparative study of classical search, Genetic Algorithms, and A*-seeded initialization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FC5613-C840-49B4-BEC4-04F774701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81700"/>
            <a:ext cx="1000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 i="0">
                <a:solidFill>
                  <a:srgbClr val="7F94BD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7F94BD"/>
                </a:solidFill>
                <a:latin typeface="Arial"/>
                <a:ea typeface="Arial"/>
                <a:cs typeface="Arial"/>
              </a:rPr>
              <a:t>Naga Sampath Maddineni  |  University of North Texas  |  Reproducible course project</a:t>
            </a:r>
          </a:p>
        </p:txBody>
      </p:sp>
    </p:spTree>
    <p:extLst>
      <p:ext uri="{BB962C8B-B14F-4D97-AF65-F5344CB8AC3E}">
        <p14:creationId xmlns:p14="http://schemas.microsoft.com/office/powerpoint/2010/main" val="57855648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34995D-8133-4BE4-ABF7-7048EB397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125" b="1" i="0">
                <a:solidFill>
                  <a:srgbClr val="F97316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16A7B4-EFF1-4928-9E10-7426A4296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00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25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Motivation and problem statement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01B63F-EEB0-404F-8F71-EA246329A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8763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4748B"/>
                </a:solidFill>
                <a:latin typeface="Arial"/>
                <a:ea typeface="Arial"/>
                <a:cs typeface="Arial"/>
              </a:rPr>
              <a:t>A route can be feasible without being cost-effective or search-efficient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22844B-672D-453B-9DCA-46626B7DF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744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9E1EC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769C56-C249-4D01-B331-096467CE6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52600"/>
            <a:ext cx="4953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F"/>
          </a:solidFill>
          <a:ln xmlns:a="http://schemas.openxmlformats.org/drawingml/2006/main" w="9525">
            <a:solidFill>
              <a:srgbClr val="2E5BFF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F3AAAF-6B90-49A9-8A5A-73262833B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9550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950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Problem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F140ED-0D9B-4D8B-B929-F0DBC8749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86050"/>
            <a:ext cx="4191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Given a start, goal, obstacles, and optional terrain costs, find a feasible route while balancing path cost, path length, search effort, runtime, and stochastic stability.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E654E7-789F-4F51-9B2D-C40FE6BAD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752600"/>
            <a:ext cx="4953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8"/>
          </a:solidFill>
          <a:ln xmlns:a="http://schemas.openxmlformats.org/drawingml/2006/main" w="9525">
            <a:solidFill>
              <a:srgbClr val="F9731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08225D-A129-447D-9E4F-81B250DE8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09550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950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Study design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576763-46D7-45AD-A6CB-31E1626A5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686050"/>
            <a:ext cx="4095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Same generated maps for every method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Unit-cost and weighted-terrain modes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Classical reference routes plus stochastic optimization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A* used as an explicit hybrid prior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DFEE82-762B-48A4-B27E-0EF863BFA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05450"/>
            <a:ext cx="1057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 i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350" b="0" i="1">
                <a:solidFill>
                  <a:srgbClr val="64748B"/>
                </a:solidFill>
                <a:latin typeface="Arial"/>
                <a:ea typeface="Arial"/>
                <a:cs typeface="Arial"/>
              </a:rPr>
              <a:t>The original HW01/HW02 notebooks remain legacy coursework; this notebook is the primary graph-search project.</a:t>
            </a:r>
          </a:p>
        </p:txBody>
      </p:sp>
    </p:spTree>
    <p:extLst>
      <p:ext uri="{BB962C8B-B14F-4D97-AF65-F5344CB8AC3E}">
        <p14:creationId xmlns:p14="http://schemas.microsoft.com/office/powerpoint/2010/main" val="101439843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70D3C6-6080-40D8-8C31-E05147DA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125" b="1" i="0">
                <a:solidFill>
                  <a:srgbClr val="F97316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19170B-1137-41A0-BF69-F152CC9A6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00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25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Research questions and contributions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6BE4D0-04D6-4440-A700-46F8B6E1F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8763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4748B"/>
                </a:solidFill>
                <a:latin typeface="Arial"/>
                <a:ea typeface="Arial"/>
                <a:cs typeface="Arial"/>
              </a:rPr>
              <a:t>The comparison separates optimality guarantees from evolutionary reliability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806ACC-B48A-4027-A5BD-3AD93091D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744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9E1EC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B97BCB-6592-49E0-9BD9-5A789DB29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5260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025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Research questions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B16F69-6D75-4D08-A27B-02A217CE1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24100"/>
            <a:ext cx="50482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How do uninformed, cost-based, and heuristic methods differ across cost modes?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Does A* seeding change GA success, fitness, convergence, or variability?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How do grid size and obstacle density change search effort?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75B56F-D8C7-4E39-8E79-CD156F16F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5260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025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Contributions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D4FFE2-BFE3-4763-A718-6D01DE57A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24100"/>
            <a:ext cx="42862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Single executed notebook with all implementation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Common metrics and fixed-seed benchmark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Random GA baseline and A*-seeded ablation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CSV, manifest, SVG, PDF, and PPT artifacts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5CBEDF-02EF-4577-9D0F-E94206392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143500"/>
            <a:ext cx="876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8F0"/>
          </a:solidFill>
          <a:ln xmlns:a="http://schemas.openxmlformats.org/drawingml/2006/main" w="9525">
            <a:solidFill>
              <a:srgbClr val="10B98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893904-7E57-4C99-AB16-506117A09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324475"/>
            <a:ext cx="830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Narrow claim: informed initialization improved reliability on this controlled benchmark.</a:t>
            </a:r>
          </a:p>
        </p:txBody>
      </p:sp>
    </p:spTree>
    <p:extLst>
      <p:ext uri="{BB962C8B-B14F-4D97-AF65-F5344CB8AC3E}">
        <p14:creationId xmlns:p14="http://schemas.microsoft.com/office/powerpoint/2010/main" val="78845884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E22EDC-C188-4C2A-B6C0-11C2A980A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125" b="1" i="0">
                <a:solidFill>
                  <a:srgbClr val="F97316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831093-A852-4810-9FC9-5A5335867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00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25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Graph benchmark and data generation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5004C5-5ECC-4D13-A6C0-14AEC73E0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8763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4748B"/>
                </a:solidFill>
                <a:latin typeface="Arial"/>
                <a:ea typeface="Arial"/>
                <a:cs typeface="Arial"/>
              </a:rPr>
              <a:t>Synthetic, deterministic maps make every comparison reproducible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3D02EA-3A5B-4FA1-8A05-C5D2E7BA8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744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9E1EC"/>
            </a:solidFill>
          </a:ln>
        </p:spPr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781050" y="1752600"/>
          <a:ext xmlns:a="http://schemas.openxmlformats.org/drawingml/2006/main" cx="4953000" cy="31051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51000"/>
                <a:gridCol w="3302000"/>
              </a:tblGrid>
              <a:tr h="443593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Dimension</a:t>
                      </a:r>
                    </a:p>
                  </a:txBody>
                  <a:tcPr marL="91440" marR="91440" marT="45720" marB="45720">
                    <a:solidFill>
                      <a:srgbClr val="0B13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Executed values</a:t>
                      </a:r>
                    </a:p>
                  </a:txBody>
                  <a:tcPr marL="91440" marR="91440" marT="45720" marB="45720">
                    <a:solidFill>
                      <a:srgbClr val="0B132B"/>
                    </a:solidFill>
                  </a:tcPr>
                </a:tc>
              </a:tr>
              <a:tr h="443593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</a:rPr>
                        <a:t>Grid size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</a:rPr>
                        <a:t>15x15, 25x25, 35x35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43593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</a:rPr>
                        <a:t>Obstacle density</a:t>
                      </a:r>
                    </a:p>
                  </a:txBody>
                  <a:tcPr marL="91440" marR="91440" marT="45720" marB="45720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</a:rPr>
                        <a:t>15%, 25%</a:t>
                      </a:r>
                    </a:p>
                  </a:txBody>
                  <a:tcPr marL="91440" marR="91440" marT="45720" marB="45720">
                    <a:solidFill>
                      <a:srgbClr val="F5F7FB"/>
                    </a:solidFill>
                  </a:tcPr>
                </a:tc>
              </a:tr>
              <a:tr h="443593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</a:rPr>
                        <a:t>Terrain mode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</a:rPr>
                        <a:t>Unit cost and weighted terrain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43593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</a:rPr>
                        <a:t>Terrain costs</a:t>
                      </a:r>
                    </a:p>
                  </a:txBody>
                  <a:tcPr marL="91440" marR="91440" marT="45720" marB="45720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</a:rPr>
                        <a:t>1, 3, 7</a:t>
                      </a:r>
                    </a:p>
                  </a:txBody>
                  <a:tcPr marL="91440" marR="91440" marT="45720" marB="45720">
                    <a:solidFill>
                      <a:srgbClr val="F5F7FB"/>
                    </a:solidFill>
                  </a:tcPr>
                </a:tc>
              </a:tr>
              <a:tr h="443593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</a:rPr>
                        <a:t>Scenario seeds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</a:rPr>
                        <a:t>7000 through 7011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43593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</a:rPr>
                        <a:t>GA seeds</a:t>
                      </a:r>
                    </a:p>
                  </a:txBody>
                  <a:tcPr marL="91440" marR="91440" marT="45720" marB="45720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</a:rPr>
                        <a:t>11, 22, 33, 44, 55</a:t>
                      </a:r>
                    </a:p>
                  </a:txBody>
                  <a:tcPr marL="91440" marR="91440" marT="45720" marB="45720">
                    <a:solidFill>
                      <a:srgbClr val="F5F7FB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01EF72-5B70-4612-929C-3BF2201B7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80975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025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Reachability controls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CB953B-751F-4412-A25C-BAF15E5D7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81250"/>
            <a:ext cx="40957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Start and goal cells remain free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Disconnected maps are rejected deterministically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The same obstacle layout supports both cost modes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7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7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No restricted course dataset is committed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E57011-441E-4A77-9A2F-9F1A9BF85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95300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F"/>
          </a:solidFill>
          <a:ln xmlns:a="http://schemas.openxmlformats.org/drawingml/2006/main" w="9525">
            <a:solidFill>
              <a:srgbClr val="2E5BFF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36A575-F651-4043-BED6-74C642460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5133975"/>
            <a:ext cx="3581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12 maps  |  72 classical rows  |  120 GA trials</a:t>
            </a:r>
          </a:p>
        </p:txBody>
      </p:sp>
    </p:spTree>
    <p:extLst>
      <p:ext uri="{BB962C8B-B14F-4D97-AF65-F5344CB8AC3E}">
        <p14:creationId xmlns:p14="http://schemas.microsoft.com/office/powerpoint/2010/main" val="106131132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7E9100-FD07-49A4-8898-54234DE7F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125" b="1" i="0">
                <a:solidFill>
                  <a:srgbClr val="F97316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7CFA11-A85E-4CF2-B588-7A16F505E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00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25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Classical search algorithms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F141C8-756C-4358-A763-AD096A1AF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8763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Baselines establish feasibility, step-optimality, weighted-cost optimality, and heuristic effort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49CACF-8493-49C8-8C42-EABA6A5C7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744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9E1EC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EC1B70-FC4A-4129-AE64-1AC6F8EFF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28575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F"/>
          </a:solidFill>
          <a:ln xmlns:a="http://schemas.openxmlformats.org/drawingml/2006/main" w="9525">
            <a:solidFill>
              <a:srgbClr val="2E5BFF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D8E62A-F3E3-4EA1-A93F-819703BA8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81250"/>
            <a:ext cx="2428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725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Uninformed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B0F3FB-7897-4CB6-8BB4-8B4F57B41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90850"/>
            <a:ext cx="2428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BFS  |  DFS  |  IDS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FA41DE-D99D-49C4-998D-8DF33E211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38550"/>
            <a:ext cx="2428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0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4748B"/>
                </a:solidFill>
                <a:latin typeface="Arial"/>
                <a:ea typeface="Arial"/>
                <a:cs typeface="Arial"/>
              </a:rPr>
              <a:t>Feasibility and search effort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A02A1A-D4A2-442D-834B-C352116DE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095500"/>
            <a:ext cx="28575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8F0"/>
          </a:solidFill>
          <a:ln xmlns:a="http://schemas.openxmlformats.org/drawingml/2006/main" w="9525">
            <a:solidFill>
              <a:srgbClr val="10B98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A97013-8FC9-4E10-BF8C-93167C2DC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381250"/>
            <a:ext cx="2428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725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Cost-aware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21600E-7400-4CC7-AC65-A3C396BEB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990850"/>
            <a:ext cx="2428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UCS / Dijkstra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239073-82B9-47C3-89D0-06B6F7C2C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638550"/>
            <a:ext cx="2428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0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4748B"/>
                </a:solidFill>
                <a:latin typeface="Arial"/>
                <a:ea typeface="Arial"/>
                <a:cs typeface="Arial"/>
              </a:rPr>
              <a:t>Optimal weighted path cost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327815-C7E1-486E-841E-DE09F9B08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095500"/>
            <a:ext cx="28575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8"/>
          </a:solidFill>
          <a:ln xmlns:a="http://schemas.openxmlformats.org/drawingml/2006/main" w="9525">
            <a:solidFill>
              <a:srgbClr val="F9731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4A23FA-9F92-41B9-9138-BA4487103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381250"/>
            <a:ext cx="2428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725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Heuristic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C0DDD3-72C6-463D-9C5F-766BC5890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990850"/>
            <a:ext cx="2428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42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Greedy Best-First  |  A*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007895-C68B-4B07-82D5-628247CC2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638550"/>
            <a:ext cx="2428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0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4748B"/>
                </a:solidFill>
                <a:latin typeface="Arial"/>
                <a:ea typeface="Arial"/>
                <a:cs typeface="Arial"/>
              </a:rPr>
              <a:t>Prioritized exploration; A* cost reference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8010A6-32DF-4DDE-BEF6-FF33BBA45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95850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Each method returns the same result schema: path, success, cost, length, nodes expanded/generated, frontier size, and runtime.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F25CC4-812B-41D7-8CB4-E9F05080C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197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4748B"/>
                </a:solidFill>
                <a:latin typeface="Arial"/>
                <a:ea typeface="Arial"/>
                <a:cs typeface="Arial"/>
              </a:rPr>
              <a:t>For weighted grids, A* uses Manhattan distance multiplied by the minimum terrain cost.</a:t>
            </a:r>
          </a:p>
        </p:txBody>
      </p:sp>
    </p:spTree>
    <p:extLst>
      <p:ext uri="{BB962C8B-B14F-4D97-AF65-F5344CB8AC3E}">
        <p14:creationId xmlns:p14="http://schemas.microsoft.com/office/powerpoint/2010/main" val="6086685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38A0AB3-09F8-495A-975A-344F211F8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125" b="1" i="0">
                <a:solidFill>
                  <a:srgbClr val="F97316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881CB2-16ED-40C1-A30D-3F45D8FFE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00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25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Evolutionary path representation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A526FF-4FE6-4373-8C4A-66E63D9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8763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4748B"/>
                </a:solidFill>
                <a:latin typeface="Arial"/>
                <a:ea typeface="Arial"/>
                <a:cs typeface="Arial"/>
              </a:rPr>
              <a:t>The optimizer searches fixed-length action chromosomes with explicit feasibility penalties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A1C7C8-DEEA-4817-AD87-90B483946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744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9E1EC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07CE34-B832-4E6C-996C-407DBA124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33625"/>
            <a:ext cx="17526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F"/>
          </a:solidFill>
          <a:ln xmlns:a="http://schemas.openxmlformats.org/drawingml/2006/main" w="9525">
            <a:solidFill>
              <a:srgbClr val="2E5BFF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085972-40AB-48CB-99D4-6BA659AE6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62225"/>
            <a:ext cx="1562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Chromosome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88701F-9E16-46D8-B688-97F06690C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9900"/>
            <a:ext cx="1562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U R D R R ...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328DB5-734B-4F70-B974-0BFD70EFF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895600"/>
            <a:ext cx="4572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475569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A9DBAE-6AFD-409F-9A2B-D1D68270F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333625"/>
            <a:ext cx="17526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8F0"/>
          </a:solidFill>
          <a:ln xmlns:a="http://schemas.openxmlformats.org/drawingml/2006/main" w="9525">
            <a:solidFill>
              <a:srgbClr val="10B98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A358EC-946C-47F4-B8EA-C0F1AE60E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562225"/>
            <a:ext cx="1562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Decoder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9910E0-346B-4528-AE68-16ED0851B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009900"/>
            <a:ext cx="1562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Respect grid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36EBC-3260-4846-8EAC-2005F28C2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895600"/>
            <a:ext cx="4572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475569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DCA99E-250E-4954-9462-68F996A9C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333625"/>
            <a:ext cx="17526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F"/>
          </a:solidFill>
          <a:ln xmlns:a="http://schemas.openxmlformats.org/drawingml/2006/main" w="9525">
            <a:solidFill>
              <a:srgbClr val="2E5BFF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E93DB1-0963-40DC-B76F-E24D1B7E3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562225"/>
            <a:ext cx="1562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Fitness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164938-6C49-43E1-9BEF-9B667AB70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009900"/>
            <a:ext cx="1562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Cost + penalties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C7CA99-F2BC-4DD9-8502-489398914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895600"/>
            <a:ext cx="4572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475569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BA3504-2963-44B2-B495-72B65533D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333625"/>
            <a:ext cx="17526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8F0"/>
          </a:solidFill>
          <a:ln xmlns:a="http://schemas.openxmlformats.org/drawingml/2006/main" w="9525">
            <a:solidFill>
              <a:srgbClr val="10B981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9B9BA0-A989-4A23-9B3D-EC44BB4B0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562225"/>
            <a:ext cx="1562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Selection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2D2939-D8C9-44FB-86A9-F37D2484E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009900"/>
            <a:ext cx="1562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Elite + tournament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D83DEE-FEC9-4B5D-B185-DA2474221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895600"/>
            <a:ext cx="457200" cy="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475569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BC5685-E1CE-4EF3-B79B-087E8F15D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333625"/>
            <a:ext cx="17526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F"/>
          </a:solidFill>
          <a:ln xmlns:a="http://schemas.openxmlformats.org/drawingml/2006/main" w="9525">
            <a:solidFill>
              <a:srgbClr val="2E5BFF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3239A8-BCF6-4ECF-AC6E-0FFFDA7BB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562225"/>
            <a:ext cx="1562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Mutation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EA3101-A1DD-445B-BEB7-B03EBF568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009900"/>
            <a:ext cx="1562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Action changes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609CDF-BB00-47F7-8151-55670870B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00550"/>
            <a:ext cx="9334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C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EF3D5C6-C96B-4CAB-A9E5-7E564B3EC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619625"/>
            <a:ext cx="883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F(x) = route cost + remaining-distance penalty + invalid-action penalty + revisit penalty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5FC5181-2BA1-4A7C-8A56-9AF31FC16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61975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4748B"/>
                </a:solidFill>
                <a:latin typeface="Arial"/>
                <a:ea typeface="Arial"/>
                <a:cs typeface="Arial"/>
              </a:rPr>
              <a:t>Population 30  |  50 generations  |  elite 2  |  crossover 0.80  |  mutation 0.05  |  five seeds</a:t>
            </a:r>
          </a:p>
        </p:txBody>
      </p:sp>
    </p:spTree>
    <p:extLst>
      <p:ext uri="{BB962C8B-B14F-4D97-AF65-F5344CB8AC3E}">
        <p14:creationId xmlns:p14="http://schemas.microsoft.com/office/powerpoint/2010/main" val="117534181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7B5E52-D1B8-494B-A3C1-79B00DC8B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125" b="1" i="0">
                <a:solidFill>
                  <a:srgbClr val="F97316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45F666-5EDE-421F-8D66-BE7A06118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00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25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A*-seeded hybrid method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97634B-206D-408D-B648-73EE9E317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8763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4748B"/>
                </a:solidFill>
                <a:latin typeface="Arial"/>
                <a:ea typeface="Arial"/>
                <a:cs typeface="Arial"/>
              </a:rPr>
              <a:t>The ablation changes only initialization and records the prior's cost separately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ACBBE5-57E6-4A3B-89BD-C45037A16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744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9E1EC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BE2A7E-76B1-4862-9765-5F9BD49D4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28800"/>
            <a:ext cx="44767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B"/>
          </a:solidFill>
          <a:ln xmlns:a="http://schemas.openxmlformats.org/drawingml/2006/main" w="9525">
            <a:solidFill>
              <a:srgbClr val="D9E1EC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A8CE6F-A94F-4937-AA8D-3A893E6FB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025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Random GA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AB57DD-90C6-42D1-8620-1EA5CFD55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781300"/>
            <a:ext cx="3619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All chromosomes start random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Feasible paths emerge through mutation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Same population, budget, and seeds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CEA6B0-E03F-4954-BE30-B10D005FA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828800"/>
            <a:ext cx="44767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8"/>
          </a:solidFill>
          <a:ln xmlns:a="http://schemas.openxmlformats.org/drawingml/2006/main" w="9525">
            <a:solidFill>
              <a:srgbClr val="F97316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5E947B-3424-4934-84F2-048FCF209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15265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025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A*-seeded GA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871951-AB66-4848-B6BD-75C85FD5D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781300"/>
            <a:ext cx="3619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One A* route enters the initial population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Additional variants mutate around it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A* initialization time is recorded separately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7ED4EE-5043-4574-AFE5-9B247C439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333750"/>
            <a:ext cx="1714500" cy="0"/>
          </a:xfrm>
          <a:prstGeom xmlns:a="http://schemas.openxmlformats.org/drawingml/2006/main" prst="line">
            <a:avLst/>
          </a:prstGeom>
          <a:ln xmlns:a="http://schemas.openxmlformats.org/drawingml/2006/main" w="28575">
            <a:solidFill>
              <a:srgbClr val="F9731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B9ABA2-8C38-4212-B8B1-05C255973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76875"/>
            <a:ext cx="9144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EFF"/>
          </a:solidFill>
          <a:ln xmlns:a="http://schemas.openxmlformats.org/drawingml/2006/main" w="9525">
            <a:solidFill>
              <a:srgbClr val="2E5BF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414F63-59A8-4931-AD06-4A1A22752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638800"/>
            <a:ext cx="872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350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Fairness rule: five seeds and identical evolutionary hyperparameters for both variants.</a:t>
            </a:r>
          </a:p>
        </p:txBody>
      </p:sp>
    </p:spTree>
    <p:extLst>
      <p:ext uri="{BB962C8B-B14F-4D97-AF65-F5344CB8AC3E}">
        <p14:creationId xmlns:p14="http://schemas.microsoft.com/office/powerpoint/2010/main" val="49793143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29B5CD-3A87-458B-B418-2698EF726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125" b="1" i="0">
                <a:solidFill>
                  <a:srgbClr val="F97316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FF3D20-5FC0-4D15-B1A3-E21708526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00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25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Experimental protocol and metrics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96FBEE-62C9-4F05-AFB5-326BE5AE8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8763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4748B"/>
                </a:solidFill>
                <a:latin typeface="Arial"/>
                <a:ea typeface="Arial"/>
                <a:cs typeface="Arial"/>
              </a:rPr>
              <a:t>The saved result files preserve the complete audit trail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CC8372-DA78-4592-A3DB-7DB701C94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744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9E1EC"/>
            </a:solidFill>
          </a:ln>
        </p:spPr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781050" y="1790700"/>
          <a:ext xmlns:a="http://schemas.openxmlformats.org/drawingml/2006/main" cx="5810250" cy="3162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936750"/>
                <a:gridCol w="3873500"/>
              </a:tblGrid>
              <a:tr h="451757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Recorded field</a:t>
                      </a:r>
                    </a:p>
                  </a:txBody>
                  <a:tcPr marL="91440" marR="91440" marT="45720" marB="45720">
                    <a:solidFill>
                      <a:srgbClr val="0B13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Why it matters</a:t>
                      </a:r>
                    </a:p>
                  </a:txBody>
                  <a:tcPr marL="91440" marR="91440" marT="45720" marB="45720">
                    <a:solidFill>
                      <a:srgbClr val="0B132B"/>
                    </a:solidFill>
                  </a:tcPr>
                </a:tc>
              </a:tr>
              <a:tr h="451757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</a:rPr>
                        <a:t>graph_id and seed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</a:rPr>
                        <a:t>Reproduce the scenario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1757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</a:rPr>
                        <a:t>success and path cost</a:t>
                      </a:r>
                    </a:p>
                  </a:txBody>
                  <a:tcPr marL="91440" marR="91440" marT="45720" marB="45720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</a:rPr>
                        <a:t>Compare solution quality</a:t>
                      </a:r>
                    </a:p>
                  </a:txBody>
                  <a:tcPr marL="91440" marR="91440" marT="45720" marB="45720">
                    <a:solidFill>
                      <a:srgbClr val="F5F7FB"/>
                    </a:solidFill>
                  </a:tcPr>
                </a:tc>
              </a:tr>
              <a:tr h="451757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</a:rPr>
                        <a:t>nodes expanded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</a:rPr>
                        <a:t>Measure search effort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1757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</a:rPr>
                        <a:t>runtime_ms</a:t>
                      </a:r>
                    </a:p>
                  </a:txBody>
                  <a:tcPr marL="91440" marR="91440" marT="45720" marB="45720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</a:rPr>
                        <a:t>Compare execution cost</a:t>
                      </a:r>
                    </a:p>
                  </a:txBody>
                  <a:tcPr marL="91440" marR="91440" marT="45720" marB="45720">
                    <a:solidFill>
                      <a:srgbClr val="F5F7FB"/>
                    </a:solidFill>
                  </a:tcPr>
                </a:tc>
              </a:tr>
              <a:tr h="451757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</a:rPr>
                        <a:t>final_fitness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</a:rPr>
                        <a:t>Compare evolutionary objective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1757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</a:rPr>
                        <a:t>generation history</a:t>
                      </a:r>
                    </a:p>
                  </a:txBody>
                  <a:tcPr marL="91440" marR="91440" marT="45720" marB="45720">
                    <a:solidFill>
                      <a:srgbClr val="F5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4213D"/>
                          </a:solidFill>
                          <a:latin typeface="Arial"/>
                          <a:ea typeface="Arial"/>
                          <a:cs typeface="Arial"/>
                        </a:rPr>
                        <a:t>Inspect convergence</a:t>
                      </a:r>
                    </a:p>
                  </a:txBody>
                  <a:tcPr marL="91440" marR="91440" marT="45720" marB="45720">
                    <a:solidFill>
                      <a:srgbClr val="F5F7FB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739578-FF4B-4EA5-8E05-501B95A45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885950"/>
            <a:ext cx="323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025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Execution outputs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2376AA-759A-443C-888E-BB2750B95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514600"/>
            <a:ext cx="34290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algorithm_comparison.csv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stochastic_trials.csv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convergence.csv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experiment_manifest.json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three SVG evidence figures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849294-DEE6-42FF-B621-5CD934E31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857750"/>
            <a:ext cx="323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 i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350" b="0" i="1">
                <a:solidFill>
                  <a:srgbClr val="64748B"/>
                </a:solidFill>
                <a:latin typeface="Arial"/>
                <a:ea typeface="Arial"/>
                <a:cs typeface="Arial"/>
              </a:rPr>
              <a:t>The notebook writes these artifacts directly; no result table is manually composed.</a:t>
            </a:r>
          </a:p>
        </p:txBody>
      </p:sp>
    </p:spTree>
    <p:extLst>
      <p:ext uri="{BB962C8B-B14F-4D97-AF65-F5344CB8AC3E}">
        <p14:creationId xmlns:p14="http://schemas.microsoft.com/office/powerpoint/2010/main" val="45045107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08E355-FB81-4809-BEAB-C5B544D9D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125" b="1" i="0">
                <a:solidFill>
                  <a:srgbClr val="F97316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50408A-3DCD-4E35-B46C-2F3C187EE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00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25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Representative paths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7545E2-9563-4647-AEA9-42E170D7D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8763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4748B"/>
                </a:solidFill>
                <a:latin typeface="Arial"/>
                <a:ea typeface="Arial"/>
                <a:cs typeface="Arial"/>
              </a:rPr>
              <a:t>A single 25x25 unit-cost scenario makes route differences visible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72B3E3-5A0C-4AFA-95AD-F529ABF79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744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9E1EC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B8F12D-0448-4DC8-B66F-A517F5377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23900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C"/>
            </a:solidFill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c6312647144b00">
            <a:extLst>
              <a:ext uri="{96DAC541-7B7A-43D3-8B79-37D633B846F1}">
                <asvg:svgBlip xmlns:asvg="http://schemas.microsoft.com/office/drawing/2016/SVG/main" r:embed="Rbc0ba8cda84a497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76300" y="1771650"/>
            <a:ext cx="7010400" cy="38671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840B46-2E2E-45C0-A64C-6A57842E0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847850"/>
            <a:ext cx="2857500" cy="3124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B"/>
          </a:solidFill>
          <a:ln xmlns:a="http://schemas.openxmlformats.org/drawingml/2006/main" w="9525">
            <a:solidFill>
              <a:srgbClr val="D9E1EC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C7B686-0E15-483F-8014-6AACA34F5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152650"/>
            <a:ext cx="2343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800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Reading the figure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FCDDC0-82D6-4376-89F5-B3CC4D2E8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781300"/>
            <a:ext cx="22669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All methods share the same obstacle layout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Classical routes provide deterministic references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GA routes depend on initialization and seed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The notebook retains the figure as SVG 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4A74F8-1652-4C76-B993-D325D164E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81700"/>
            <a:ext cx="1038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4748B"/>
                </a:solidFill>
                <a:latin typeface="Arial"/>
                <a:ea typeface="Arial"/>
                <a:cs typeface="Arial"/>
              </a:rPr>
              <a:t>Representative scenario: 25x25, 15% obstacles, unit cost.</a:t>
            </a:r>
          </a:p>
        </p:txBody>
      </p:sp>
    </p:spTree>
    <p:extLst>
      <p:ext uri="{BB962C8B-B14F-4D97-AF65-F5344CB8AC3E}">
        <p14:creationId xmlns:p14="http://schemas.microsoft.com/office/powerpoint/2010/main" val="86777456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714819-8DB9-439C-B966-1AAB0801C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125" b="1" i="0">
                <a:solidFill>
                  <a:srgbClr val="F97316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23D15D-EE2A-4E4A-80D6-9510DD627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00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25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Classical search results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00FCC6-5926-4C91-A8E6-56DB83683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8763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4748B"/>
                </a:solidFill>
                <a:latin typeface="Arial"/>
                <a:ea typeface="Arial"/>
                <a:cs typeface="Arial"/>
              </a:rPr>
              <a:t>Weighted terrain separates step-optimal behavior from cost-aware behavior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3B4C99-9F97-4C23-9711-CE8068762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744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9E1EC"/>
            </a:solidFill>
          </a:ln>
        </p:spPr>
      </p:sp>
      <p:graphicFrame>
        <p:nvGraphicFramePr>
          <p:cNvPr id="14" name="Chart"/>
          <p:cNvGraphicFramePr/>
          <p:nvPr/>
        </p:nvGraphicFramePr>
        <p:xfrm>
          <a:off xmlns:a="http://schemas.openxmlformats.org/drawingml/2006/main" x="619125" y="1714500"/>
          <a:ext xmlns:a="http://schemas.openxmlformats.org/drawingml/2006/main" cx="723900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b8090a2e47a4b62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E055E2-2645-4E6A-BA62-1625C8B6F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809750"/>
            <a:ext cx="30480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B"/>
          </a:solidFill>
          <a:ln xmlns:a="http://schemas.openxmlformats.org/drawingml/2006/main" w="9525">
            <a:solidFill>
              <a:srgbClr val="D9E1EC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E2CF4B-3A40-486C-95C2-E8365C7C7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133600"/>
            <a:ext cx="2457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800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Measured pattern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A57F3D-88B6-40E4-9F9E-F75C8CC07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781300"/>
            <a:ext cx="238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UCS and A* share the lowest weighted mean cost: 122.00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Greedy expands fewer nodes but pays more path cost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• BFS/IDS match unit-cost length but ignore terrain cost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E7CC4E-7615-4A63-8E24-C434914B3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5785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4748B"/>
                </a:solidFill>
                <a:latin typeface="Arial"/>
                <a:ea typeface="Arial"/>
                <a:cs typeface="Arial"/>
              </a:rPr>
              <a:t>Mean path cost across six unit and six weighted maps per method.</a:t>
            </a:r>
          </a:p>
        </p:txBody>
      </p:sp>
    </p:spTree>
    <p:extLst>
      <p:ext uri="{BB962C8B-B14F-4D97-AF65-F5344CB8AC3E}">
        <p14:creationId xmlns:p14="http://schemas.microsoft.com/office/powerpoint/2010/main" val="13628755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06055A-5206-4DE6-97EE-C5F0BC5E3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125" b="1" i="0">
                <a:solidFill>
                  <a:srgbClr val="F97316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465540-16D4-4A32-B3D9-0D20C9F78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00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325" b="1" i="0">
                <a:solidFill>
                  <a:srgbClr val="0B132B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0B132B"/>
                </a:solidFill>
                <a:latin typeface="Arial"/>
                <a:ea typeface="Arial"/>
                <a:cs typeface="Arial"/>
              </a:rPr>
              <a:t>GA convergence, scalability, and limitations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2EF9E6-2B1B-48DF-80B4-AC173EF03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8763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75" b="0" i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4748B"/>
                </a:solidFill>
                <a:latin typeface="Arial"/>
                <a:ea typeface="Arial"/>
                <a:cs typeface="Arial"/>
              </a:rPr>
              <a:t>Reliability improves with informed initialization, while search effort grows with grid size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573E26-BEB2-42ED-88AB-3ED59B59D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38250"/>
            <a:ext cx="107442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D9E1EC"/>
            </a:solidFill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42bb5afe044f7a">
            <a:extLst>
              <a:ext uri="{96DAC541-7B7A-43D3-8B79-37D633B846F1}">
                <asvg:svgBlip xmlns:asvg="http://schemas.microsoft.com/office/drawing/2016/SVG/main" r:embed="Rd5cdef960858447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85800" y="1714500"/>
            <a:ext cx="5143500" cy="2571750"/>
          </a:xfrm>
          <a:prstGeom xmlns:a="http://schemas.openxmlformats.org/drawingml/2006/main" prst="rect">
            <a:avLst/>
          </a:prstGeom>
        </p:spPr>
      </p:pic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191250" y="1714500"/>
          <a:ext xmlns:a="http://schemas.openxmlformats.org/drawingml/2006/main" cx="5143500" cy="2571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6549bb5e0754141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A056B5-11F9-4142-9A13-8A1670567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0"/>
            <a:ext cx="106489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C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4E1476-7E61-4728-A27F-222B296AB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500" b="1" i="0">
                <a:solidFill>
                  <a:srgbClr val="F97316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Limitations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A80590-4AC3-40F6-8CE3-9405E3429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83870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350" b="0" i="0">
                <a:solidFill>
                  <a:srgbClr val="14213D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4213D"/>
                </a:solidFill>
                <a:latin typeface="Arial"/>
                <a:ea typeface="Arial"/>
                <a:cs typeface="Arial"/>
              </a:rPr>
              <a:t>Synthetic grids, small-to-medium sizes, a fixed action encoding, environment-dependent runtimes, and an A* prior limit generalization. The hybrid result is evidence for this benchmark, not a universal claim.</a:t>
            </a:r>
          </a:p>
        </p:txBody>
      </p:sp>
    </p:spTree>
    <p:extLst>
      <p:ext uri="{BB962C8B-B14F-4D97-AF65-F5344CB8AC3E}">
        <p14:creationId xmlns:p14="http://schemas.microsoft.com/office/powerpoint/2010/main" val="74003307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3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A46B1E-2A66-4BF9-9903-133230206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3820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9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Conclusion &amp; thank you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AF2182-8E40-4BA8-99F9-83FE09A84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43050"/>
            <a:ext cx="1000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725" b="0" i="0">
                <a:solidFill>
                  <a:srgbClr val="D5DDF0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D5DDF0"/>
                </a:solidFill>
                <a:latin typeface="Arial"/>
                <a:ea typeface="Arial"/>
                <a:cs typeface="Arial"/>
              </a:rPr>
              <a:t>Search-Guided Evolutionary Optimization for Graph Pathfinding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8DCA72-A92A-42D1-A93E-684B08F8C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47900"/>
            <a:ext cx="10591800" cy="0"/>
          </a:xfrm>
          <a:prstGeom xmlns:a="http://schemas.openxmlformats.org/drawingml/2006/main" prst="line">
            <a:avLst/>
          </a:prstGeom>
          <a:ln xmlns:a="http://schemas.openxmlformats.org/drawingml/2006/main" w="11430">
            <a:solidFill>
              <a:srgbClr val="31466E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FA88CE-E221-4FBF-993F-F962D139A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051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575" b="1" i="0">
                <a:solidFill>
                  <a:srgbClr val="F97316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Conclusion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1CD12B-69D6-4445-98C5-6C9EA328B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43250"/>
            <a:ext cx="7715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425" b="0" i="0">
                <a:solidFill>
                  <a:srgbClr val="D5DDF0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D5DDF0"/>
                </a:solidFill>
                <a:latin typeface="Arial"/>
                <a:ea typeface="Arial"/>
                <a:cs typeface="Arial"/>
              </a:rPr>
              <a:t>Classical search supplied dependable cost references, while A*-seeded initialization improved GA reliability from 73.3% to 100% in the executed 120-trial benchmark.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09CC08-B02A-49BC-96B5-8914AE9E6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005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575" b="1" i="0">
                <a:solidFill>
                  <a:srgbClr val="F97316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References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93AF1A-C3D6-4498-9C33-420630FCC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57750"/>
            <a:ext cx="7239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275" b="0" i="0">
                <a:solidFill>
                  <a:srgbClr val="D5DDF0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D5DDF0"/>
                </a:solidFill>
                <a:latin typeface="Arial"/>
                <a:ea typeface="Arial"/>
                <a:cs typeface="Arial"/>
              </a:rPr>
              <a:t>[1] Dijkstra, A note on two problems in connexion with graphs, 1959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275" b="0" i="0">
                <a:solidFill>
                  <a:srgbClr val="D5DDF0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D5DDF0"/>
                </a:solidFill>
                <a:latin typeface="Arial"/>
                <a:ea typeface="Arial"/>
                <a:cs typeface="Arial"/>
              </a:rPr>
              <a:t>[2] Hart, Nilsson, and Raphael, A formal basis for heuristic paths, 1968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275" b="0" i="0">
                <a:solidFill>
                  <a:srgbClr val="D5DDF0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D5DDF0"/>
                </a:solidFill>
                <a:latin typeface="Arial"/>
                <a:ea typeface="Arial"/>
                <a:cs typeface="Arial"/>
              </a:rPr>
              <a:t>[3] Holland, Adaptation in Natural and Artificial Systems, 1975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2D8A0C-F05C-478A-BBF4-026801A9C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91250"/>
            <a:ext cx="809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200" b="0" i="0">
                <a:solidFill>
                  <a:srgbClr val="7F94BD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7F94BD"/>
                </a:solidFill>
                <a:latin typeface="Arial"/>
                <a:ea typeface="Arial"/>
                <a:cs typeface="Arial"/>
              </a:rPr>
              <a:t>Naga Sampath Maddineni  |  University of North Texas</a:t>
            </a:r>
          </a:p>
        </p:txBody>
      </p:sp>
    </p:spTree>
    <p:extLst>
      <p:ext uri="{BB962C8B-B14F-4D97-AF65-F5344CB8AC3E}">
        <p14:creationId xmlns:p14="http://schemas.microsoft.com/office/powerpoint/2010/main" val="101845432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2026-10-09T18:27:19.0610000Z</dcterms:created>
  <dcterms:modified xsi:type="dcterms:W3CDTF">2026-10-09T18:27:19.0610000Z</dcterms:modified>
</coreProperties>
</file>